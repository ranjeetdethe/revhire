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68" r:id="rId10"/>
    <p:sldId id="261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47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5102352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F2860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F2860">
              <a:alpha val="6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4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029968" y="38404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Talent with Opportunity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627632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10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Job Portal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" y="2377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57200" y="3063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Naukri.com-inspired platform enabling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job discovery, applications,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recruitment management.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349240" y="457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257800" y="960120"/>
            <a:ext cx="3657600" cy="749808"/>
          </a:xfrm>
          <a:prstGeom prst="rect">
            <a:avLst/>
          </a:prstGeom>
          <a:solidFill>
            <a:srgbClr val="182F6E"/>
          </a:solidFill>
          <a:ln w="6350">
            <a:solidFill>
              <a:srgbClr val="1E3D8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11556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70448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870448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3.x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257800" y="1856232"/>
            <a:ext cx="3657600" cy="749808"/>
          </a:xfrm>
          <a:prstGeom prst="rect">
            <a:avLst/>
          </a:prstGeom>
          <a:solidFill>
            <a:srgbClr val="182F6E"/>
          </a:solidFill>
          <a:ln w="6350">
            <a:solidFill>
              <a:srgbClr val="1E3D8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0116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70448" y="1901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870448" y="2176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257800" y="2752344"/>
            <a:ext cx="3657600" cy="749808"/>
          </a:xfrm>
          <a:prstGeom prst="rect">
            <a:avLst/>
          </a:prstGeom>
          <a:solidFill>
            <a:srgbClr val="182F6E"/>
          </a:solidFill>
          <a:ln w="6350">
            <a:solidFill>
              <a:srgbClr val="1E3D8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90779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70448" y="27980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870448" y="3072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257800" y="3648456"/>
            <a:ext cx="3657600" cy="749808"/>
          </a:xfrm>
          <a:prstGeom prst="rect">
            <a:avLst/>
          </a:prstGeom>
          <a:solidFill>
            <a:srgbClr val="182F6E"/>
          </a:solidFill>
          <a:ln w="6350">
            <a:solidFill>
              <a:srgbClr val="1E3D8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803904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70448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870448" y="39684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Spring Security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" y="1188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581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goals, and scope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340864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" y="24505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28437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and component structure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46704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3602736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" y="371246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3272" y="41056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 and tools used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608576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1078992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3832" y="1188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Observations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1581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features, screenshots, and results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084832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340864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542032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4505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Key Learnings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13832" y="28437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and lessons learned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346704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3602736"/>
            <a:ext cx="42062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803904"/>
            <a:ext cx="457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13832" y="371246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13832" y="41056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future enhancements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608576"/>
            <a:ext cx="42062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RevHire is and what it aims to solve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7947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64008" cy="3794760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RevHire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RevHire is a full-stack monolithic web application modeled after Naukri.com — India's leading job portal. It bridges the gap between job seekers and employers through a unified, role-based digital platform.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3840480" cy="932688"/>
          </a:xfrm>
          <a:prstGeom prst="rect">
            <a:avLst/>
          </a:prstGeom>
          <a:solidFill>
            <a:srgbClr val="D1E0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9864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2724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0432" y="3054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profiles, upload resumes, search &amp; apply for jobs, track applications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785616"/>
            <a:ext cx="3840480" cy="9326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1421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70432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jobs, manage applicants, shortlist candidates, view dashboard analytics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078992"/>
            <a:ext cx="4160520" cy="3794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46320" y="11887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71907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168249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production-grade job portal with real-world features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1488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21122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role-based access control for Seekers &amp; Employers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5786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93792" y="254203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textual resume builder + PDF/DOCX file upload (max 2MB)</a:t>
            </a:r>
            <a:endParaRPr lang="en-US" sz="10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0837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93792" y="297180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advanced job search with 7+ filter parameters</a:t>
            </a:r>
            <a:endParaRPr lang="en-US" sz="10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438144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93792" y="340156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lifecycle: Applied → Shortlisted → Rejected</a:t>
            </a:r>
            <a:endParaRPr lang="en-US" sz="10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867912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93792" y="383133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real-time in-app notifications for status updates</a:t>
            </a:r>
            <a:endParaRPr lang="en-US" sz="10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297680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93792" y="426110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secure authentication using JWT + Spring Security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B637EC-CD18-C931-FC20-99C17704355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0554F-810D-9B24-57BF-704F50EF4532}"/>
              </a:ext>
            </a:extLst>
          </p:cNvPr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JOB SEEKER FEATURES — PART 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30F025-9E08-E481-1773-ABB71861C6F8}"/>
              </a:ext>
            </a:extLst>
          </p:cNvPr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Empowering Job Seekers at Every Step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C48713-0B1F-D6A6-94CF-815468B8613C}"/>
              </a:ext>
            </a:extLst>
          </p:cNvPr>
          <p:cNvSpPr/>
          <p:nvPr/>
        </p:nvSpPr>
        <p:spPr>
          <a:xfrm>
            <a:off x="228600" y="137160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0279DD3-8BB3-FE79-48EB-7BCF075B5028}"/>
              </a:ext>
            </a:extLst>
          </p:cNvPr>
          <p:cNvSpPr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E63044-77CD-F45F-D1CA-2821FF9A55AC}"/>
              </a:ext>
            </a:extLst>
          </p:cNvPr>
          <p:cNvSpPr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C36A95-5E16-0895-1032-DAA83AF8974D}"/>
              </a:ext>
            </a:extLst>
          </p:cNvPr>
          <p:cNvSpPr/>
          <p:nvPr/>
        </p:nvSpPr>
        <p:spPr>
          <a:xfrm>
            <a:off x="822960" y="1444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Registration &amp; Account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4D4390-BB0D-397D-ABE8-913785062514}"/>
              </a:ext>
            </a:extLst>
          </p:cNvPr>
          <p:cNvSpPr/>
          <p:nvPr/>
        </p:nvSpPr>
        <p:spPr>
          <a:xfrm>
            <a:off x="822960" y="1755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account with personal details: name, email, phone, location, current employment status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C54296E-3F3F-89A1-A390-11709710CEE9}"/>
              </a:ext>
            </a:extLst>
          </p:cNvPr>
          <p:cNvSpPr/>
          <p:nvPr/>
        </p:nvSpPr>
        <p:spPr>
          <a:xfrm>
            <a:off x="4800600" y="137160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53705D-B3C4-C0FC-074D-BD830709F914}"/>
              </a:ext>
            </a:extLst>
          </p:cNvPr>
          <p:cNvSpPr/>
          <p:nvPr/>
        </p:nvSpPr>
        <p:spPr>
          <a:xfrm>
            <a:off x="4800600" y="137160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63A802-E27A-4B63-CF02-7FDD3FAC178C}"/>
              </a:ext>
            </a:extLst>
          </p:cNvPr>
          <p:cNvSpPr/>
          <p:nvPr/>
        </p:nvSpPr>
        <p:spPr>
          <a:xfrm>
            <a:off x="4800600" y="1371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51BA22-C031-51C4-CE42-3497E10EA58E}"/>
              </a:ext>
            </a:extLst>
          </p:cNvPr>
          <p:cNvSpPr/>
          <p:nvPr/>
        </p:nvSpPr>
        <p:spPr>
          <a:xfrm>
            <a:off x="5394960" y="1444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Secure Login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C784BFE-51D2-1AA7-8687-429A720F902D}"/>
              </a:ext>
            </a:extLst>
          </p:cNvPr>
          <p:cNvSpPr/>
          <p:nvPr/>
        </p:nvSpPr>
        <p:spPr>
          <a:xfrm>
            <a:off x="5394960" y="1755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Login using email and password with secure authentication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7DDDC34-5A37-C442-2F54-615DD65464B8}"/>
              </a:ext>
            </a:extLst>
          </p:cNvPr>
          <p:cNvSpPr/>
          <p:nvPr/>
        </p:nvSpPr>
        <p:spPr>
          <a:xfrm>
            <a:off x="228600" y="256032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FA048C9-C09C-9F9F-097C-D5CB89AAEB3B}"/>
              </a:ext>
            </a:extLst>
          </p:cNvPr>
          <p:cNvSpPr/>
          <p:nvPr/>
        </p:nvSpPr>
        <p:spPr>
          <a:xfrm>
            <a:off x="228600" y="2560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0086C5-A021-65E5-1C13-9B5A86C5AF2A}"/>
              </a:ext>
            </a:extLst>
          </p:cNvPr>
          <p:cNvSpPr/>
          <p:nvPr/>
        </p:nvSpPr>
        <p:spPr>
          <a:xfrm>
            <a:off x="228600" y="2560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7B1238-B45B-DAA0-39A9-42265D011A38}"/>
              </a:ext>
            </a:extLst>
          </p:cNvPr>
          <p:cNvSpPr/>
          <p:nvPr/>
        </p:nvSpPr>
        <p:spPr>
          <a:xfrm>
            <a:off x="82296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Resume Builder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E9031EB-5576-9573-7841-0E1E70319410}"/>
              </a:ext>
            </a:extLst>
          </p:cNvPr>
          <p:cNvSpPr/>
          <p:nvPr/>
        </p:nvSpPr>
        <p:spPr>
          <a:xfrm>
            <a:off x="822960" y="29443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textual resume with structured sections: objective, education, experience, skills, projects, certifications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3F2E22-00ED-41EF-B3C4-7E0B4A7BDC98}"/>
              </a:ext>
            </a:extLst>
          </p:cNvPr>
          <p:cNvSpPr/>
          <p:nvPr/>
        </p:nvSpPr>
        <p:spPr>
          <a:xfrm>
            <a:off x="4800600" y="256032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FCFAFBE-0012-4DDC-91C2-0F5B012DCC15}"/>
              </a:ext>
            </a:extLst>
          </p:cNvPr>
          <p:cNvSpPr/>
          <p:nvPr/>
        </p:nvSpPr>
        <p:spPr>
          <a:xfrm>
            <a:off x="4800600" y="2560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819684C-B7B8-7BC6-7F40-96096A13FA4C}"/>
              </a:ext>
            </a:extLst>
          </p:cNvPr>
          <p:cNvSpPr/>
          <p:nvPr/>
        </p:nvSpPr>
        <p:spPr>
          <a:xfrm>
            <a:off x="4800600" y="2560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C95CC3C-55D6-574B-0651-7CA142EA0063}"/>
              </a:ext>
            </a:extLst>
          </p:cNvPr>
          <p:cNvSpPr/>
          <p:nvPr/>
        </p:nvSpPr>
        <p:spPr>
          <a:xfrm>
            <a:off x="539496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Resume Upload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79227A-A946-D65F-0521-5C14B851B258}"/>
              </a:ext>
            </a:extLst>
          </p:cNvPr>
          <p:cNvSpPr/>
          <p:nvPr/>
        </p:nvSpPr>
        <p:spPr>
          <a:xfrm>
            <a:off x="5394960" y="29443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Upload formatted resume in PDF/DOCX format, max 2MB file size limit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C21D62-4E06-C555-F709-7532B810DF4A}"/>
              </a:ext>
            </a:extLst>
          </p:cNvPr>
          <p:cNvSpPr/>
          <p:nvPr/>
        </p:nvSpPr>
        <p:spPr>
          <a:xfrm>
            <a:off x="228600" y="374904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8F11BBE-11AD-4D8C-711D-4627F14BBB4C}"/>
              </a:ext>
            </a:extLst>
          </p:cNvPr>
          <p:cNvSpPr/>
          <p:nvPr/>
        </p:nvSpPr>
        <p:spPr>
          <a:xfrm>
            <a:off x="228600" y="37490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4192710-7B3D-E449-0BFE-7E8A943D3575}"/>
              </a:ext>
            </a:extLst>
          </p:cNvPr>
          <p:cNvSpPr/>
          <p:nvPr/>
        </p:nvSpPr>
        <p:spPr>
          <a:xfrm>
            <a:off x="228600" y="3749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77D43C8-99F8-2206-C1DC-82C1E7ED1D43}"/>
              </a:ext>
            </a:extLst>
          </p:cNvPr>
          <p:cNvSpPr/>
          <p:nvPr/>
        </p:nvSpPr>
        <p:spPr>
          <a:xfrm>
            <a:off x="822960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Advanced Job Search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67244E3-8F75-0F48-3D69-DAF27BAC87AD}"/>
              </a:ext>
            </a:extLst>
          </p:cNvPr>
          <p:cNvSpPr/>
          <p:nvPr/>
        </p:nvSpPr>
        <p:spPr>
          <a:xfrm>
            <a:off x="822960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Filter by role, location, experience, company, salary range, job type, and date posted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01826D0-43BF-BC08-71A5-0DC657A8DCE1}"/>
              </a:ext>
            </a:extLst>
          </p:cNvPr>
          <p:cNvSpPr/>
          <p:nvPr/>
        </p:nvSpPr>
        <p:spPr>
          <a:xfrm>
            <a:off x="4800600" y="374904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B9B70EC-8A64-E940-5834-7236F7B81BB3}"/>
              </a:ext>
            </a:extLst>
          </p:cNvPr>
          <p:cNvSpPr/>
          <p:nvPr/>
        </p:nvSpPr>
        <p:spPr>
          <a:xfrm>
            <a:off x="4800600" y="37490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A27DE8B-B8DF-C5B6-7EC9-40D2D5C7EFB7}"/>
              </a:ext>
            </a:extLst>
          </p:cNvPr>
          <p:cNvSpPr/>
          <p:nvPr/>
        </p:nvSpPr>
        <p:spPr>
          <a:xfrm>
            <a:off x="4800600" y="3749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3BA9E15-AC91-AC78-FBA9-7C5C7FA2B66F}"/>
              </a:ext>
            </a:extLst>
          </p:cNvPr>
          <p:cNvSpPr/>
          <p:nvPr/>
        </p:nvSpPr>
        <p:spPr>
          <a:xfrm>
            <a:off x="5394960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One-Click Apply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517329-080A-3F68-04F6-F50EC2FF2F00}"/>
              </a:ext>
            </a:extLst>
          </p:cNvPr>
          <p:cNvSpPr/>
          <p:nvPr/>
        </p:nvSpPr>
        <p:spPr>
          <a:xfrm>
            <a:off x="5394960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Apply with saved resume and optional cover letter — unlimited applications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1329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2C4296-B895-9BD3-BDB6-4FD73B55628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0E16D-4597-B255-C633-5DA4F042E776}"/>
              </a:ext>
            </a:extLst>
          </p:cNvPr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JOB SEEKER FEATURES — PART 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4FD423-38AE-48D3-E856-367A1A69F7A7}"/>
              </a:ext>
            </a:extLst>
          </p:cNvPr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Track, Manage &amp; Stay Informed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BB8EF2-7673-3EA7-CC56-CE20426D545D}"/>
              </a:ext>
            </a:extLst>
          </p:cNvPr>
          <p:cNvSpPr/>
          <p:nvPr/>
        </p:nvSpPr>
        <p:spPr>
          <a:xfrm>
            <a:off x="228600" y="137160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D3F471-DEE7-101C-7D1D-89E0F668F9FB}"/>
              </a:ext>
            </a:extLst>
          </p:cNvPr>
          <p:cNvSpPr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39C9A0-B92B-22DB-2B0C-FA24296E4515}"/>
              </a:ext>
            </a:extLst>
          </p:cNvPr>
          <p:cNvSpPr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6139E-6321-0532-48E5-C1A9742C18DD}"/>
              </a:ext>
            </a:extLst>
          </p:cNvPr>
          <p:cNvSpPr/>
          <p:nvPr/>
        </p:nvSpPr>
        <p:spPr>
          <a:xfrm>
            <a:off x="822960" y="1444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Application Tracking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BCB1C8-AFE9-22EA-D6F6-90BB1FE7CFD0}"/>
              </a:ext>
            </a:extLst>
          </p:cNvPr>
          <p:cNvSpPr/>
          <p:nvPr/>
        </p:nvSpPr>
        <p:spPr>
          <a:xfrm>
            <a:off x="822960" y="1755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View all applications with job details and status: Applied, Under Review, Shortlisted, Rejected, Withdrawn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016219-AF95-6527-3344-4B7B93A1FE18}"/>
              </a:ext>
            </a:extLst>
          </p:cNvPr>
          <p:cNvSpPr/>
          <p:nvPr/>
        </p:nvSpPr>
        <p:spPr>
          <a:xfrm>
            <a:off x="4800600" y="137160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2EBBAF7-504B-308C-5507-BDF21E362102}"/>
              </a:ext>
            </a:extLst>
          </p:cNvPr>
          <p:cNvSpPr/>
          <p:nvPr/>
        </p:nvSpPr>
        <p:spPr>
          <a:xfrm>
            <a:off x="4800600" y="137160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D6C2E1-DCC8-CBA4-291C-BEB5F3933AAE}"/>
              </a:ext>
            </a:extLst>
          </p:cNvPr>
          <p:cNvSpPr/>
          <p:nvPr/>
        </p:nvSpPr>
        <p:spPr>
          <a:xfrm>
            <a:off x="4800600" y="1371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B14880-68EF-825F-82C6-A91558BCA1AA}"/>
              </a:ext>
            </a:extLst>
          </p:cNvPr>
          <p:cNvSpPr/>
          <p:nvPr/>
        </p:nvSpPr>
        <p:spPr>
          <a:xfrm>
            <a:off x="5394960" y="1444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Withdraw Applications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4251A0-C158-6E4E-396F-B0D7F51787B8}"/>
              </a:ext>
            </a:extLst>
          </p:cNvPr>
          <p:cNvSpPr/>
          <p:nvPr/>
        </p:nvSpPr>
        <p:spPr>
          <a:xfrm>
            <a:off x="5394960" y="1755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Withdraw applications with confirmation dialog and optional reason for withdrawal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26810C3-5D93-2146-FA07-BA256CBAF067}"/>
              </a:ext>
            </a:extLst>
          </p:cNvPr>
          <p:cNvSpPr/>
          <p:nvPr/>
        </p:nvSpPr>
        <p:spPr>
          <a:xfrm>
            <a:off x="228600" y="256032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7CFAE2F-8CF0-6996-0F26-D3C6F9348932}"/>
              </a:ext>
            </a:extLst>
          </p:cNvPr>
          <p:cNvSpPr/>
          <p:nvPr/>
        </p:nvSpPr>
        <p:spPr>
          <a:xfrm>
            <a:off x="228600" y="2560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B84B9E2-E70E-3807-7BD1-F7D1FD0B3664}"/>
              </a:ext>
            </a:extLst>
          </p:cNvPr>
          <p:cNvSpPr/>
          <p:nvPr/>
        </p:nvSpPr>
        <p:spPr>
          <a:xfrm>
            <a:off x="228600" y="2560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6C7F3C-7E7E-174D-03BD-039F64C04B89}"/>
              </a:ext>
            </a:extLst>
          </p:cNvPr>
          <p:cNvSpPr/>
          <p:nvPr/>
        </p:nvSpPr>
        <p:spPr>
          <a:xfrm>
            <a:off x="82296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Profile Management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279809-D34F-9819-C7A4-4A7F50E47040}"/>
              </a:ext>
            </a:extLst>
          </p:cNvPr>
          <p:cNvSpPr/>
          <p:nvPr/>
        </p:nvSpPr>
        <p:spPr>
          <a:xfrm>
            <a:off x="822960" y="29443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Manage education, work experience, skills, and certifications in one place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8AEB652-DA95-6B8D-43B2-A05141AD6B3B}"/>
              </a:ext>
            </a:extLst>
          </p:cNvPr>
          <p:cNvSpPr/>
          <p:nvPr/>
        </p:nvSpPr>
        <p:spPr>
          <a:xfrm>
            <a:off x="4800600" y="256032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96FA771-40C1-1C28-ED8D-874B3F16DDAB}"/>
              </a:ext>
            </a:extLst>
          </p:cNvPr>
          <p:cNvSpPr/>
          <p:nvPr/>
        </p:nvSpPr>
        <p:spPr>
          <a:xfrm>
            <a:off x="4800600" y="256032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0A533D6-FE5B-1B22-5DF2-736BCF77AC6E}"/>
              </a:ext>
            </a:extLst>
          </p:cNvPr>
          <p:cNvSpPr/>
          <p:nvPr/>
        </p:nvSpPr>
        <p:spPr>
          <a:xfrm>
            <a:off x="4800600" y="2560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99640C9-FFEE-DAFB-8F09-15304CF3745B}"/>
              </a:ext>
            </a:extLst>
          </p:cNvPr>
          <p:cNvSpPr/>
          <p:nvPr/>
        </p:nvSpPr>
        <p:spPr>
          <a:xfrm>
            <a:off x="5394960" y="2633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In-App Notifications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C819E95-15D4-42C8-FB37-B4AC9CA7390B}"/>
              </a:ext>
            </a:extLst>
          </p:cNvPr>
          <p:cNvSpPr/>
          <p:nvPr/>
        </p:nvSpPr>
        <p:spPr>
          <a:xfrm>
            <a:off x="5394960" y="29443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Receive real-time notifications for application status updates and job recommendations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5A33A10-027D-48E3-761E-1B301A343DEF}"/>
              </a:ext>
            </a:extLst>
          </p:cNvPr>
          <p:cNvSpPr/>
          <p:nvPr/>
        </p:nvSpPr>
        <p:spPr>
          <a:xfrm>
            <a:off x="228600" y="374904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4A446F1-C468-10CC-3BEE-0A18057DD9BC}"/>
              </a:ext>
            </a:extLst>
          </p:cNvPr>
          <p:cNvSpPr/>
          <p:nvPr/>
        </p:nvSpPr>
        <p:spPr>
          <a:xfrm>
            <a:off x="228600" y="37490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D94D53F-5C54-E69D-C97B-52E1D6585F9B}"/>
              </a:ext>
            </a:extLst>
          </p:cNvPr>
          <p:cNvSpPr/>
          <p:nvPr/>
        </p:nvSpPr>
        <p:spPr>
          <a:xfrm>
            <a:off x="228600" y="3749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46C4325-7886-8C0F-758A-8EC72F05A63F}"/>
              </a:ext>
            </a:extLst>
          </p:cNvPr>
          <p:cNvSpPr/>
          <p:nvPr/>
        </p:nvSpPr>
        <p:spPr>
          <a:xfrm>
            <a:off x="822960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Save Favourites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0A27837-1F7C-5DB6-A0DF-63DCC65143F0}"/>
              </a:ext>
            </a:extLst>
          </p:cNvPr>
          <p:cNvSpPr/>
          <p:nvPr/>
        </p:nvSpPr>
        <p:spPr>
          <a:xfrm>
            <a:off x="822960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Save jobs to a favourites list for later review and application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48ADFBB-59CC-0D7D-1CBF-7CF9C7287B36}"/>
              </a:ext>
            </a:extLst>
          </p:cNvPr>
          <p:cNvSpPr/>
          <p:nvPr/>
        </p:nvSpPr>
        <p:spPr>
          <a:xfrm>
            <a:off x="4800600" y="3749040"/>
            <a:ext cx="42062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D010CE5-B10A-149A-A7DC-7500914A62A1}"/>
              </a:ext>
            </a:extLst>
          </p:cNvPr>
          <p:cNvSpPr/>
          <p:nvPr/>
        </p:nvSpPr>
        <p:spPr>
          <a:xfrm>
            <a:off x="4800600" y="3749040"/>
            <a:ext cx="5029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CA1D20E-EA09-272D-ACE2-6C9034AA6B74}"/>
              </a:ext>
            </a:extLst>
          </p:cNvPr>
          <p:cNvSpPr/>
          <p:nvPr/>
        </p:nvSpPr>
        <p:spPr>
          <a:xfrm>
            <a:off x="4800600" y="3749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0F275A7-9215-3B1D-7BDA-E6EB06D6B56B}"/>
              </a:ext>
            </a:extLst>
          </p:cNvPr>
          <p:cNvSpPr/>
          <p:nvPr/>
        </p:nvSpPr>
        <p:spPr>
          <a:xfrm>
            <a:off x="5394960" y="382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Job &amp; Company Details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CEDBD69-4B8E-41B8-347A-61BFEBE2D8FC}"/>
              </a:ext>
            </a:extLst>
          </p:cNvPr>
          <p:cNvSpPr/>
          <p:nvPr/>
        </p:nvSpPr>
        <p:spPr>
          <a:xfrm>
            <a:off x="5394960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View detailed job descriptions and full company profiles before applying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20818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>
            <a:extLst>
              <a:ext uri="{FF2B5EF4-FFF2-40B4-BE49-F238E27FC236}">
                <a16:creationId xmlns:a16="http://schemas.microsoft.com/office/drawing/2014/main" id="{856C504B-F1C5-8CC4-7B19-B8BF9D62F90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A9D256B1-C365-1C4D-8F57-D3E14B0A8EE3}"/>
              </a:ext>
            </a:extLst>
          </p:cNvPr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EMPLOYER FEATURES</a:t>
            </a:r>
            <a:endParaRPr lang="en-US" sz="1600" dirty="0"/>
          </a:p>
        </p:txBody>
      </p:sp>
      <p:sp>
        <p:nvSpPr>
          <p:cNvPr id="90" name="Text 2">
            <a:extLst>
              <a:ext uri="{FF2B5EF4-FFF2-40B4-BE49-F238E27FC236}">
                <a16:creationId xmlns:a16="http://schemas.microsoft.com/office/drawing/2014/main" id="{714791AC-0E15-32D9-3EF6-256284320200}"/>
              </a:ext>
            </a:extLst>
          </p:cNvPr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Complete Employer Toolkit</a:t>
            </a:r>
            <a:endParaRPr lang="en-US" sz="2000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B580D496-2868-C45D-5336-3BE255CE9287}"/>
              </a:ext>
            </a:extLst>
          </p:cNvPr>
          <p:cNvSpPr/>
          <p:nvPr/>
        </p:nvSpPr>
        <p:spPr>
          <a:xfrm>
            <a:off x="228600" y="1371600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65B885FE-C01F-DA2A-D28C-642A8E0B71AF}"/>
              </a:ext>
            </a:extLst>
          </p:cNvPr>
          <p:cNvSpPr/>
          <p:nvPr/>
        </p:nvSpPr>
        <p:spPr>
          <a:xfrm>
            <a:off x="228600" y="1371600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1BBE9BE7-0320-5D7F-7BAD-26A18C383F8B}"/>
              </a:ext>
            </a:extLst>
          </p:cNvPr>
          <p:cNvSpPr/>
          <p:nvPr/>
        </p:nvSpPr>
        <p:spPr>
          <a:xfrm>
            <a:off x="338328" y="1408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Company Registration</a:t>
            </a:r>
            <a:endParaRPr lang="en-US" sz="11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A25968D-5018-A70E-C7A5-621C4BC8ED03}"/>
              </a:ext>
            </a:extLst>
          </p:cNvPr>
          <p:cNvSpPr/>
          <p:nvPr/>
        </p:nvSpPr>
        <p:spPr>
          <a:xfrm>
            <a:off x="338328" y="16642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Register with name, industry, size, description, website, location</a:t>
            </a:r>
            <a:endParaRPr lang="en-US" sz="950" dirty="0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E8DA013E-61E1-E0FB-E1BE-31FAEE08AAAF}"/>
              </a:ext>
            </a:extLst>
          </p:cNvPr>
          <p:cNvSpPr/>
          <p:nvPr/>
        </p:nvSpPr>
        <p:spPr>
          <a:xfrm>
            <a:off x="4800600" y="1371600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B881C3A-CAB7-CA37-2AF9-EFDE3D5B70D3}"/>
              </a:ext>
            </a:extLst>
          </p:cNvPr>
          <p:cNvSpPr/>
          <p:nvPr/>
        </p:nvSpPr>
        <p:spPr>
          <a:xfrm>
            <a:off x="4800600" y="1371600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76E4B2EF-E4CF-33FD-5330-B83E903B69BF}"/>
              </a:ext>
            </a:extLst>
          </p:cNvPr>
          <p:cNvSpPr/>
          <p:nvPr/>
        </p:nvSpPr>
        <p:spPr>
          <a:xfrm>
            <a:off x="4910328" y="1408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Job Posting</a:t>
            </a:r>
            <a:endParaRPr lang="en-US" sz="110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F0A95925-FC14-2AA8-1C0B-99C4B2111F46}"/>
              </a:ext>
            </a:extLst>
          </p:cNvPr>
          <p:cNvSpPr/>
          <p:nvPr/>
        </p:nvSpPr>
        <p:spPr>
          <a:xfrm>
            <a:off x="4910328" y="16642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Create postings with title, description, skills, experience, salary, type, deadline, openings</a:t>
            </a:r>
            <a:endParaRPr lang="en-US" sz="950" dirty="0"/>
          </a:p>
        </p:txBody>
      </p:sp>
      <p:sp>
        <p:nvSpPr>
          <p:cNvPr id="99" name="Shape 11">
            <a:extLst>
              <a:ext uri="{FF2B5EF4-FFF2-40B4-BE49-F238E27FC236}">
                <a16:creationId xmlns:a16="http://schemas.microsoft.com/office/drawing/2014/main" id="{21AD1412-64BF-6F2C-2A5A-D593BB4F36C0}"/>
              </a:ext>
            </a:extLst>
          </p:cNvPr>
          <p:cNvSpPr/>
          <p:nvPr/>
        </p:nvSpPr>
        <p:spPr>
          <a:xfrm>
            <a:off x="228600" y="2121408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00" name="Shape 12">
            <a:extLst>
              <a:ext uri="{FF2B5EF4-FFF2-40B4-BE49-F238E27FC236}">
                <a16:creationId xmlns:a16="http://schemas.microsoft.com/office/drawing/2014/main" id="{0F6C5F81-B680-D956-754C-F6501A59FFA0}"/>
              </a:ext>
            </a:extLst>
          </p:cNvPr>
          <p:cNvSpPr/>
          <p:nvPr/>
        </p:nvSpPr>
        <p:spPr>
          <a:xfrm>
            <a:off x="228600" y="2121408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1" name="Text 13">
            <a:extLst>
              <a:ext uri="{FF2B5EF4-FFF2-40B4-BE49-F238E27FC236}">
                <a16:creationId xmlns:a16="http://schemas.microsoft.com/office/drawing/2014/main" id="{4EADFEF4-E1C3-8210-A612-28011E110250}"/>
              </a:ext>
            </a:extLst>
          </p:cNvPr>
          <p:cNvSpPr/>
          <p:nvPr/>
        </p:nvSpPr>
        <p:spPr>
          <a:xfrm>
            <a:off x="338328" y="2157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Post Management</a:t>
            </a:r>
            <a:endParaRPr lang="en-US" sz="1100" dirty="0"/>
          </a:p>
        </p:txBody>
      </p:sp>
      <p:sp>
        <p:nvSpPr>
          <p:cNvPr id="102" name="Text 14">
            <a:extLst>
              <a:ext uri="{FF2B5EF4-FFF2-40B4-BE49-F238E27FC236}">
                <a16:creationId xmlns:a16="http://schemas.microsoft.com/office/drawing/2014/main" id="{FBEADE2C-DCE4-6B62-07CB-CDC182B8722C}"/>
              </a:ext>
            </a:extLst>
          </p:cNvPr>
          <p:cNvSpPr/>
          <p:nvPr/>
        </p:nvSpPr>
        <p:spPr>
          <a:xfrm>
            <a:off x="338328" y="24140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View, edit, close/reopen, delete, mark as filled, view statistics per job</a:t>
            </a:r>
            <a:endParaRPr lang="en-US" sz="950" dirty="0"/>
          </a:p>
        </p:txBody>
      </p:sp>
      <p:sp>
        <p:nvSpPr>
          <p:cNvPr id="103" name="Shape 15">
            <a:extLst>
              <a:ext uri="{FF2B5EF4-FFF2-40B4-BE49-F238E27FC236}">
                <a16:creationId xmlns:a16="http://schemas.microsoft.com/office/drawing/2014/main" id="{DA7F581A-CCAF-C076-9AC1-7C77286933CF}"/>
              </a:ext>
            </a:extLst>
          </p:cNvPr>
          <p:cNvSpPr/>
          <p:nvPr/>
        </p:nvSpPr>
        <p:spPr>
          <a:xfrm>
            <a:off x="4800600" y="2121408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04" name="Shape 16">
            <a:extLst>
              <a:ext uri="{FF2B5EF4-FFF2-40B4-BE49-F238E27FC236}">
                <a16:creationId xmlns:a16="http://schemas.microsoft.com/office/drawing/2014/main" id="{69108350-5890-CC99-8ABD-B5B5726A22C4}"/>
              </a:ext>
            </a:extLst>
          </p:cNvPr>
          <p:cNvSpPr/>
          <p:nvPr/>
        </p:nvSpPr>
        <p:spPr>
          <a:xfrm>
            <a:off x="4800600" y="2121408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0F7BA840-750E-8330-BBAC-43A1535CA589}"/>
              </a:ext>
            </a:extLst>
          </p:cNvPr>
          <p:cNvSpPr/>
          <p:nvPr/>
        </p:nvSpPr>
        <p:spPr>
          <a:xfrm>
            <a:off x="4910328" y="21579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Applicant Review</a:t>
            </a:r>
            <a:endParaRPr lang="en-US" sz="1100" dirty="0"/>
          </a:p>
        </p:txBody>
      </p:sp>
      <p:sp>
        <p:nvSpPr>
          <p:cNvPr id="106" name="Text 18">
            <a:extLst>
              <a:ext uri="{FF2B5EF4-FFF2-40B4-BE49-F238E27FC236}">
                <a16:creationId xmlns:a16="http://schemas.microsoft.com/office/drawing/2014/main" id="{5A941AA6-609E-A06F-E892-4246A41E0631}"/>
              </a:ext>
            </a:extLst>
          </p:cNvPr>
          <p:cNvSpPr/>
          <p:nvPr/>
        </p:nvSpPr>
        <p:spPr>
          <a:xfrm>
            <a:off x="4910328" y="24140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View profile, textual/uploaded resume, cover letter, and application date</a:t>
            </a:r>
            <a:endParaRPr lang="en-US" sz="95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58D05E3D-2C42-4599-0113-F227EBE422E3}"/>
              </a:ext>
            </a:extLst>
          </p:cNvPr>
          <p:cNvSpPr/>
          <p:nvPr/>
        </p:nvSpPr>
        <p:spPr>
          <a:xfrm>
            <a:off x="228600" y="2871216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08" name="Shape 20">
            <a:extLst>
              <a:ext uri="{FF2B5EF4-FFF2-40B4-BE49-F238E27FC236}">
                <a16:creationId xmlns:a16="http://schemas.microsoft.com/office/drawing/2014/main" id="{4D7380EC-A84E-113E-E997-0E32754FDEED}"/>
              </a:ext>
            </a:extLst>
          </p:cNvPr>
          <p:cNvSpPr/>
          <p:nvPr/>
        </p:nvSpPr>
        <p:spPr>
          <a:xfrm>
            <a:off x="228600" y="2871216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F4980FC3-6382-5379-B344-766E74C4A24A}"/>
              </a:ext>
            </a:extLst>
          </p:cNvPr>
          <p:cNvSpPr/>
          <p:nvPr/>
        </p:nvSpPr>
        <p:spPr>
          <a:xfrm>
            <a:off x="338328" y="29077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Shortlist &amp; Reject</a:t>
            </a:r>
            <a:endParaRPr lang="en-US" sz="110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E9CD25BD-18CD-C7BF-1446-DD1EA472F0A0}"/>
              </a:ext>
            </a:extLst>
          </p:cNvPr>
          <p:cNvSpPr/>
          <p:nvPr/>
        </p:nvSpPr>
        <p:spPr>
          <a:xfrm>
            <a:off x="338328" y="31638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Bulk actions with optional comments and status updates for applicants</a:t>
            </a:r>
            <a:endParaRPr lang="en-US" sz="95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03B9C55-3F3E-2679-5346-2FD5D8C4700A}"/>
              </a:ext>
            </a:extLst>
          </p:cNvPr>
          <p:cNvSpPr/>
          <p:nvPr/>
        </p:nvSpPr>
        <p:spPr>
          <a:xfrm>
            <a:off x="4800600" y="2871216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3BAB4CC8-C08C-2387-7D78-E38D1C9A426C}"/>
              </a:ext>
            </a:extLst>
          </p:cNvPr>
          <p:cNvSpPr/>
          <p:nvPr/>
        </p:nvSpPr>
        <p:spPr>
          <a:xfrm>
            <a:off x="4800600" y="2871216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A5DCEBA-6689-2516-9410-61E548F50416}"/>
              </a:ext>
            </a:extLst>
          </p:cNvPr>
          <p:cNvSpPr/>
          <p:nvPr/>
        </p:nvSpPr>
        <p:spPr>
          <a:xfrm>
            <a:off x="4910328" y="29077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Search Applicants</a:t>
            </a:r>
            <a:endParaRPr lang="en-US" sz="110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8989D1CE-4C10-6A69-72B2-CF20EA088631}"/>
              </a:ext>
            </a:extLst>
          </p:cNvPr>
          <p:cNvSpPr/>
          <p:nvPr/>
        </p:nvSpPr>
        <p:spPr>
          <a:xfrm>
            <a:off x="4910328" y="31638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Filter by experience, skills, education, application date, and status</a:t>
            </a:r>
            <a:endParaRPr lang="en-US" sz="950" dirty="0"/>
          </a:p>
        </p:txBody>
      </p:sp>
      <p:sp>
        <p:nvSpPr>
          <p:cNvPr id="115" name="Shape 27">
            <a:extLst>
              <a:ext uri="{FF2B5EF4-FFF2-40B4-BE49-F238E27FC236}">
                <a16:creationId xmlns:a16="http://schemas.microsoft.com/office/drawing/2014/main" id="{11D0A2F9-26C1-4F54-046E-F69BDFA4B88B}"/>
              </a:ext>
            </a:extLst>
          </p:cNvPr>
          <p:cNvSpPr/>
          <p:nvPr/>
        </p:nvSpPr>
        <p:spPr>
          <a:xfrm>
            <a:off x="228600" y="3621024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1D2FF308-9C20-8CC0-90D7-A5AFF97C5C3C}"/>
              </a:ext>
            </a:extLst>
          </p:cNvPr>
          <p:cNvSpPr/>
          <p:nvPr/>
        </p:nvSpPr>
        <p:spPr>
          <a:xfrm>
            <a:off x="228600" y="3621024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7" name="Text 29">
            <a:extLst>
              <a:ext uri="{FF2B5EF4-FFF2-40B4-BE49-F238E27FC236}">
                <a16:creationId xmlns:a16="http://schemas.microsoft.com/office/drawing/2014/main" id="{C3767340-67C5-CF2E-E20F-EB302A6E9C75}"/>
              </a:ext>
            </a:extLst>
          </p:cNvPr>
          <p:cNvSpPr/>
          <p:nvPr/>
        </p:nvSpPr>
        <p:spPr>
          <a:xfrm>
            <a:off x="338328" y="3657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Company Profile</a:t>
            </a:r>
            <a:endParaRPr lang="en-US" sz="110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5AD88DCF-DEFE-FA67-B4D1-6316BD9F4042}"/>
              </a:ext>
            </a:extLst>
          </p:cNvPr>
          <p:cNvSpPr/>
          <p:nvPr/>
        </p:nvSpPr>
        <p:spPr>
          <a:xfrm>
            <a:off x="338328" y="3913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Manage and update company information and branding</a:t>
            </a:r>
            <a:endParaRPr lang="en-US" sz="950" dirty="0"/>
          </a:p>
        </p:txBody>
      </p:sp>
      <p:sp>
        <p:nvSpPr>
          <p:cNvPr id="119" name="Shape 31">
            <a:extLst>
              <a:ext uri="{FF2B5EF4-FFF2-40B4-BE49-F238E27FC236}">
                <a16:creationId xmlns:a16="http://schemas.microsoft.com/office/drawing/2014/main" id="{8327EAB3-17AA-364D-D665-F4025F56CFF9}"/>
              </a:ext>
            </a:extLst>
          </p:cNvPr>
          <p:cNvSpPr/>
          <p:nvPr/>
        </p:nvSpPr>
        <p:spPr>
          <a:xfrm>
            <a:off x="4800600" y="3621024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20" name="Shape 32">
            <a:extLst>
              <a:ext uri="{FF2B5EF4-FFF2-40B4-BE49-F238E27FC236}">
                <a16:creationId xmlns:a16="http://schemas.microsoft.com/office/drawing/2014/main" id="{3F6E4A9B-3050-48AC-C413-30E383BD4BFF}"/>
              </a:ext>
            </a:extLst>
          </p:cNvPr>
          <p:cNvSpPr/>
          <p:nvPr/>
        </p:nvSpPr>
        <p:spPr>
          <a:xfrm>
            <a:off x="4800600" y="3621024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1" name="Text 33">
            <a:extLst>
              <a:ext uri="{FF2B5EF4-FFF2-40B4-BE49-F238E27FC236}">
                <a16:creationId xmlns:a16="http://schemas.microsoft.com/office/drawing/2014/main" id="{C509795C-52A3-0B73-F477-84DF5EE6EC6B}"/>
              </a:ext>
            </a:extLst>
          </p:cNvPr>
          <p:cNvSpPr/>
          <p:nvPr/>
        </p:nvSpPr>
        <p:spPr>
          <a:xfrm>
            <a:off x="4910328" y="3657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Dashboard &amp; Analytics</a:t>
            </a:r>
            <a:endParaRPr lang="en-US" sz="1100" dirty="0"/>
          </a:p>
        </p:txBody>
      </p:sp>
      <p:sp>
        <p:nvSpPr>
          <p:cNvPr id="122" name="Text 34">
            <a:extLst>
              <a:ext uri="{FF2B5EF4-FFF2-40B4-BE49-F238E27FC236}">
                <a16:creationId xmlns:a16="http://schemas.microsoft.com/office/drawing/2014/main" id="{884E36E9-1757-29E3-A4D0-0B718044494F}"/>
              </a:ext>
            </a:extLst>
          </p:cNvPr>
          <p:cNvSpPr/>
          <p:nvPr/>
        </p:nvSpPr>
        <p:spPr>
          <a:xfrm>
            <a:off x="4910328" y="3913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Stats: total jobs, active jobs, total applications, pending reviews</a:t>
            </a:r>
            <a:endParaRPr lang="en-US" sz="950" dirty="0"/>
          </a:p>
        </p:txBody>
      </p:sp>
      <p:sp>
        <p:nvSpPr>
          <p:cNvPr id="123" name="Shape 35">
            <a:extLst>
              <a:ext uri="{FF2B5EF4-FFF2-40B4-BE49-F238E27FC236}">
                <a16:creationId xmlns:a16="http://schemas.microsoft.com/office/drawing/2014/main" id="{FDB7E595-F940-9307-ED16-A01989C65504}"/>
              </a:ext>
            </a:extLst>
          </p:cNvPr>
          <p:cNvSpPr/>
          <p:nvPr/>
        </p:nvSpPr>
        <p:spPr>
          <a:xfrm>
            <a:off x="228600" y="4370832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24" name="Shape 36">
            <a:extLst>
              <a:ext uri="{FF2B5EF4-FFF2-40B4-BE49-F238E27FC236}">
                <a16:creationId xmlns:a16="http://schemas.microsoft.com/office/drawing/2014/main" id="{F660D94A-B4FC-34B9-7D64-E1F4120B9BD3}"/>
              </a:ext>
            </a:extLst>
          </p:cNvPr>
          <p:cNvSpPr/>
          <p:nvPr/>
        </p:nvSpPr>
        <p:spPr>
          <a:xfrm>
            <a:off x="228600" y="4370832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3CA9778-FAC4-D59C-7C0A-01D1FC74CA7A}"/>
              </a:ext>
            </a:extLst>
          </p:cNvPr>
          <p:cNvSpPr/>
          <p:nvPr/>
        </p:nvSpPr>
        <p:spPr>
          <a:xfrm>
            <a:off x="338328" y="4407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Application Notes</a:t>
            </a:r>
            <a:endParaRPr lang="en-US" sz="1100" dirty="0"/>
          </a:p>
        </p:txBody>
      </p:sp>
      <p:sp>
        <p:nvSpPr>
          <p:cNvPr id="126" name="Text 38">
            <a:extLst>
              <a:ext uri="{FF2B5EF4-FFF2-40B4-BE49-F238E27FC236}">
                <a16:creationId xmlns:a16="http://schemas.microsoft.com/office/drawing/2014/main" id="{D039CCA2-C74A-488C-D081-CE8C46E79205}"/>
              </a:ext>
            </a:extLst>
          </p:cNvPr>
          <p:cNvSpPr/>
          <p:nvPr/>
        </p:nvSpPr>
        <p:spPr>
          <a:xfrm>
            <a:off x="338328" y="46634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Add internal notes to applications for team tracking</a:t>
            </a:r>
            <a:endParaRPr lang="en-US" sz="95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01607BC5-F54E-8613-5C02-6F94374C7B9B}"/>
              </a:ext>
            </a:extLst>
          </p:cNvPr>
          <p:cNvSpPr/>
          <p:nvPr/>
        </p:nvSpPr>
        <p:spPr>
          <a:xfrm>
            <a:off x="4800600" y="4370832"/>
            <a:ext cx="4206240" cy="658368"/>
          </a:xfrm>
          <a:prstGeom prst="rect">
            <a:avLst/>
          </a:prstGeom>
          <a:solidFill>
            <a:srgbClr val="162952"/>
          </a:solidFill>
          <a:ln w="12700">
            <a:solidFill>
              <a:srgbClr val="182F6E"/>
            </a:solidFill>
            <a:prstDash val="solid"/>
          </a:ln>
        </p:spPr>
      </p:sp>
      <p:sp>
        <p:nvSpPr>
          <p:cNvPr id="128" name="Shape 40">
            <a:extLst>
              <a:ext uri="{FF2B5EF4-FFF2-40B4-BE49-F238E27FC236}">
                <a16:creationId xmlns:a16="http://schemas.microsoft.com/office/drawing/2014/main" id="{58331962-846E-8B9D-C63A-85D2B62D2432}"/>
              </a:ext>
            </a:extLst>
          </p:cNvPr>
          <p:cNvSpPr/>
          <p:nvPr/>
        </p:nvSpPr>
        <p:spPr>
          <a:xfrm>
            <a:off x="4800600" y="4370832"/>
            <a:ext cx="36576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BC47D1E7-F729-F23A-FF5D-927259183DBD}"/>
              </a:ext>
            </a:extLst>
          </p:cNvPr>
          <p:cNvSpPr/>
          <p:nvPr/>
        </p:nvSpPr>
        <p:spPr>
          <a:xfrm>
            <a:off x="4910328" y="4407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Secure Login</a:t>
            </a:r>
            <a:endParaRPr lang="en-US" sz="110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1F302CFE-C697-5E3E-61D0-FD429DE0AC45}"/>
              </a:ext>
            </a:extLst>
          </p:cNvPr>
          <p:cNvSpPr/>
          <p:nvPr/>
        </p:nvSpPr>
        <p:spPr>
          <a:xfrm>
            <a:off x="4910328" y="46634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Authenticated access using registered employer credentials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08855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monolithic architecture with REST API integration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34747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88920" cy="777240"/>
          </a:xfrm>
          <a:prstGeom prst="rect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52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463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 (Standalone Components)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2996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304288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968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2560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871216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6382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438144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3075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072384" y="2468880"/>
            <a:ext cx="128016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5"/>
          <p:cNvSpPr/>
          <p:nvPr/>
        </p:nvSpPr>
        <p:spPr>
          <a:xfrm>
            <a:off x="3054096" y="230428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3218688" y="1097280"/>
            <a:ext cx="2788920" cy="34747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8688" y="1097280"/>
            <a:ext cx="278892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18872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58768" y="1152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858768" y="1463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(REST API)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02996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75888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3401568" y="2304288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596896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675888" y="2560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3401568" y="2871216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163824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675888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3401568" y="3438144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730752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675888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6016752" y="2468880"/>
            <a:ext cx="128016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28"/>
          <p:cNvSpPr/>
          <p:nvPr/>
        </p:nvSpPr>
        <p:spPr>
          <a:xfrm>
            <a:off x="5998464" y="230428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41" name="Shape 29"/>
          <p:cNvSpPr/>
          <p:nvPr/>
        </p:nvSpPr>
        <p:spPr>
          <a:xfrm>
            <a:off x="6163056" y="1097280"/>
            <a:ext cx="2788920" cy="34747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163056" y="1097280"/>
            <a:ext cx="2788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1188720"/>
            <a:ext cx="384048" cy="38404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803136" y="1152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6803136" y="1463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85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2029968"/>
            <a:ext cx="201168" cy="2011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620256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(JPA)</a:t>
            </a:r>
            <a:endParaRPr lang="en-US" sz="1100" dirty="0"/>
          </a:p>
        </p:txBody>
      </p:sp>
      <p:sp>
        <p:nvSpPr>
          <p:cNvPr id="48" name="Shape 34"/>
          <p:cNvSpPr/>
          <p:nvPr/>
        </p:nvSpPr>
        <p:spPr>
          <a:xfrm>
            <a:off x="6345936" y="2304288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2596896"/>
            <a:ext cx="201168" cy="20116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6620256" y="2560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51" name="Shape 36"/>
          <p:cNvSpPr/>
          <p:nvPr/>
        </p:nvSpPr>
        <p:spPr>
          <a:xfrm>
            <a:off x="6345936" y="2871216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163824"/>
            <a:ext cx="201168" cy="20116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620256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54" name="Shape 38"/>
          <p:cNvSpPr/>
          <p:nvPr/>
        </p:nvSpPr>
        <p:spPr>
          <a:xfrm>
            <a:off x="6345936" y="3438144"/>
            <a:ext cx="242316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730752"/>
            <a:ext cx="201168" cy="201168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620256" y="3694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57" name="Text 40"/>
          <p:cNvSpPr/>
          <p:nvPr/>
        </p:nvSpPr>
        <p:spPr>
          <a:xfrm>
            <a:off x="27432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Concerns:</a:t>
            </a:r>
            <a:endParaRPr lang="en-US" sz="1000" dirty="0"/>
          </a:p>
        </p:txBody>
      </p:sp>
      <p:sp>
        <p:nvSpPr>
          <p:cNvPr id="58" name="Shape 41"/>
          <p:cNvSpPr/>
          <p:nvPr/>
        </p:nvSpPr>
        <p:spPr>
          <a:xfrm>
            <a:off x="2121408" y="4617720"/>
            <a:ext cx="1280160" cy="292608"/>
          </a:xfrm>
          <a:prstGeom prst="rect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59" name="Text 42"/>
          <p:cNvSpPr/>
          <p:nvPr/>
        </p:nvSpPr>
        <p:spPr>
          <a:xfrm>
            <a:off x="2121408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Filter</a:t>
            </a:r>
            <a:endParaRPr lang="en-US" sz="800" dirty="0"/>
          </a:p>
        </p:txBody>
      </p:sp>
      <p:sp>
        <p:nvSpPr>
          <p:cNvPr id="60" name="Shape 43"/>
          <p:cNvSpPr/>
          <p:nvPr/>
        </p:nvSpPr>
        <p:spPr>
          <a:xfrm>
            <a:off x="3511296" y="4617720"/>
            <a:ext cx="1280160" cy="292608"/>
          </a:xfrm>
          <a:prstGeom prst="rect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61" name="Text 44"/>
          <p:cNvSpPr/>
          <p:nvPr/>
        </p:nvSpPr>
        <p:spPr>
          <a:xfrm>
            <a:off x="3511296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</a:t>
            </a:r>
            <a:endParaRPr lang="en-US" sz="800" dirty="0"/>
          </a:p>
        </p:txBody>
      </p:sp>
      <p:sp>
        <p:nvSpPr>
          <p:cNvPr id="62" name="Shape 45"/>
          <p:cNvSpPr/>
          <p:nvPr/>
        </p:nvSpPr>
        <p:spPr>
          <a:xfrm>
            <a:off x="4901184" y="4617720"/>
            <a:ext cx="12801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46"/>
          <p:cNvSpPr/>
          <p:nvPr/>
        </p:nvSpPr>
        <p:spPr>
          <a:xfrm>
            <a:off x="4901184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</a:t>
            </a:r>
            <a:endParaRPr lang="en-US" sz="800" dirty="0"/>
          </a:p>
        </p:txBody>
      </p:sp>
      <p:sp>
        <p:nvSpPr>
          <p:cNvPr id="64" name="Shape 47"/>
          <p:cNvSpPr/>
          <p:nvPr/>
        </p:nvSpPr>
        <p:spPr>
          <a:xfrm>
            <a:off x="6291072" y="4617720"/>
            <a:ext cx="12801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48"/>
          <p:cNvSpPr/>
          <p:nvPr/>
        </p:nvSpPr>
        <p:spPr>
          <a:xfrm>
            <a:off x="6291072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Guards</a:t>
            </a:r>
            <a:endParaRPr lang="en-US" sz="800" dirty="0"/>
          </a:p>
        </p:txBody>
      </p:sp>
      <p:sp>
        <p:nvSpPr>
          <p:cNvPr id="66" name="Shape 49"/>
          <p:cNvSpPr/>
          <p:nvPr/>
        </p:nvSpPr>
        <p:spPr>
          <a:xfrm>
            <a:off x="7680960" y="4617720"/>
            <a:ext cx="1280160" cy="292608"/>
          </a:xfrm>
          <a:prstGeom prst="rect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67" name="Text 50"/>
          <p:cNvSpPr/>
          <p:nvPr/>
        </p:nvSpPr>
        <p:spPr>
          <a:xfrm>
            <a:off x="768096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Interceptors</a:t>
            </a:r>
            <a:endParaRPr lang="en-US" sz="800" dirty="0"/>
          </a:p>
        </p:txBody>
      </p:sp>
      <p:sp>
        <p:nvSpPr>
          <p:cNvPr id="68" name="Text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approach, tools, and workflow adopted for RevHire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2125"/>
            <a:ext cx="7680960" cy="45720"/>
          </a:xfrm>
          <a:prstGeom prst="rect">
            <a:avLst/>
          </a:prstGeom>
          <a:solidFill>
            <a:srgbClr val="182F6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20240"/>
            <a:ext cx="320040" cy="320040"/>
          </a:xfrm>
          <a:prstGeom prst="ellipse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2011680" cy="2468880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59152"/>
            <a:ext cx="2011680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3017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Naukri.com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user stories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ERD &amp; 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192024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2359152"/>
            <a:ext cx="2011680" cy="2468880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2359152"/>
            <a:ext cx="2011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3090672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2807208" y="3017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365760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2807208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22452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2807208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Repository layers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0" y="1920240"/>
            <a:ext cx="320040" cy="320040"/>
          </a:xfrm>
          <a:prstGeom prst="ellipse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359152"/>
            <a:ext cx="2011680" cy="2468880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59152"/>
            <a:ext cx="2011680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090672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34" name="Text 32"/>
          <p:cNvSpPr/>
          <p:nvPr/>
        </p:nvSpPr>
        <p:spPr>
          <a:xfrm>
            <a:off x="5001768" y="3017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standalone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657600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36" name="Text 34"/>
          <p:cNvSpPr/>
          <p:nvPr/>
        </p:nvSpPr>
        <p:spPr>
          <a:xfrm>
            <a:off x="5001768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4224528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38" name="Text 36"/>
          <p:cNvSpPr/>
          <p:nvPr/>
        </p:nvSpPr>
        <p:spPr>
          <a:xfrm>
            <a:off x="5001768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98080" y="1920240"/>
            <a:ext cx="320040" cy="320040"/>
          </a:xfrm>
          <a:prstGeom prst="ellipse">
            <a:avLst/>
          </a:prstGeom>
          <a:solidFill>
            <a:srgbClr val="1E3D80"/>
          </a:solidFill>
          <a:ln w="12700">
            <a:solidFill>
              <a:srgbClr val="1E3D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03720" y="2359152"/>
            <a:ext cx="2011680" cy="2468880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2359152"/>
            <a:ext cx="2011680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40880" y="3090672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45" name="Text 43"/>
          <p:cNvSpPr/>
          <p:nvPr/>
        </p:nvSpPr>
        <p:spPr>
          <a:xfrm>
            <a:off x="7196328" y="3017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40880" y="3657600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47" name="Text 45"/>
          <p:cNvSpPr/>
          <p:nvPr/>
        </p:nvSpPr>
        <p:spPr>
          <a:xfrm>
            <a:off x="7196328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(JUnit)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40880" y="4224528"/>
            <a:ext cx="91440" cy="91440"/>
          </a:xfrm>
          <a:prstGeom prst="ellipse">
            <a:avLst/>
          </a:prstGeom>
          <a:solidFill>
            <a:srgbClr val="1E3D80"/>
          </a:solidFill>
          <a:ln/>
        </p:spPr>
      </p:sp>
      <p:sp>
        <p:nvSpPr>
          <p:cNvPr id="49" name="Text 47"/>
          <p:cNvSpPr/>
          <p:nvPr/>
        </p:nvSpPr>
        <p:spPr>
          <a:xfrm>
            <a:off x="7196328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4681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4992624"/>
            <a:ext cx="1828800" cy="237744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23160" y="4992624"/>
            <a:ext cx="1828800" cy="237744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2316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26280" y="4992624"/>
            <a:ext cx="1828800" cy="237744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2628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29400" y="4992624"/>
            <a:ext cx="1828800" cy="237744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4992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E19357-FD7B-58D4-2430-440E44BC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0"/>
            <a:ext cx="8764173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0C08CC-928F-2474-B8C4-6236626CE45F}"/>
              </a:ext>
            </a:extLst>
          </p:cNvPr>
          <p:cNvSpPr txBox="1"/>
          <p:nvPr/>
        </p:nvSpPr>
        <p:spPr>
          <a:xfrm>
            <a:off x="429064" y="218049"/>
            <a:ext cx="2138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ER Diagram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7285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Observations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 and functional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2761488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243584"/>
            <a:ext cx="475488" cy="475488"/>
          </a:xfrm>
          <a:prstGeom prst="ellipse">
            <a:avLst/>
          </a:prstGeom>
          <a:solidFill>
            <a:srgbClr val="D1E0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197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Job Search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79222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filters: keyword, location, salary, experience, job type, work mode, date posted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18688" y="107899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1078992"/>
            <a:ext cx="276148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1568" y="1243584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075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1197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Resume System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55848" y="179222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builder (objective, education, experience, skills, projects, certs) + PDF/DOCX upload (max 2MB)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44768" y="107899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1078992"/>
            <a:ext cx="2761488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19" name="Shape 15"/>
          <p:cNvSpPr/>
          <p:nvPr/>
        </p:nvSpPr>
        <p:spPr>
          <a:xfrm>
            <a:off x="6327648" y="1243584"/>
            <a:ext cx="475488" cy="47548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0759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22008" y="1197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281928" y="179222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Applied → Under Review → Shortlisted → Rejected / Withdrawn with reason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92608" y="299923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92608" y="2999232"/>
            <a:ext cx="2761488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25" name="Shape 20"/>
          <p:cNvSpPr/>
          <p:nvPr/>
        </p:nvSpPr>
        <p:spPr>
          <a:xfrm>
            <a:off x="475488" y="3163824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2783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31181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Dashboard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29768" y="371246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total jobs, active jobs, total applications, pending reviews + bulk actions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18688" y="299923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18688" y="2999232"/>
            <a:ext cx="2761488" cy="54864"/>
          </a:xfrm>
          <a:prstGeom prst="rect">
            <a:avLst/>
          </a:prstGeom>
          <a:solidFill>
            <a:srgbClr val="1E3D80"/>
          </a:solidFill>
          <a:ln/>
        </p:spPr>
      </p:sp>
      <p:sp>
        <p:nvSpPr>
          <p:cNvPr id="31" name="Shape 25"/>
          <p:cNvSpPr/>
          <p:nvPr/>
        </p:nvSpPr>
        <p:spPr>
          <a:xfrm>
            <a:off x="3401568" y="3163824"/>
            <a:ext cx="475488" cy="475488"/>
          </a:xfrm>
          <a:prstGeom prst="ellipse">
            <a:avLst/>
          </a:prstGeom>
          <a:solidFill>
            <a:srgbClr val="D1E0FF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27832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95928" y="31181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355848" y="371246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status updates and job recommendations with unread badge counter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44768" y="2999232"/>
            <a:ext cx="2761488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44768" y="2999232"/>
            <a:ext cx="276148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Shape 30"/>
          <p:cNvSpPr/>
          <p:nvPr/>
        </p:nvSpPr>
        <p:spPr>
          <a:xfrm>
            <a:off x="6327648" y="3163824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2783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22008" y="31181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Role-Based Auth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281928" y="3712464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0D1B3E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Job Seeker, Employer &amp; Admin roles with route guards and interceptors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685800" y="4663440"/>
            <a:ext cx="16459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858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 Seeker Features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2788920" y="4663440"/>
            <a:ext cx="16459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78892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 Employer Features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892040" y="4663440"/>
            <a:ext cx="16459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489204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Search Filters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995160" y="4663440"/>
            <a:ext cx="16459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99516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Application Statuses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Key Learnings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and insights gained during development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206240" cy="3822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4206240" cy="5029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52144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" y="1792224"/>
            <a:ext cx="219456" cy="219456"/>
          </a:xfrm>
          <a:prstGeom prst="ellipse">
            <a:avLst/>
          </a:prstGeom>
          <a:solidFill>
            <a:srgbClr val="FEF3C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792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Integration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199339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Spring Security filter chain with stateless JWT and proper role extraction was complex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8912" y="2304288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912" y="2414016"/>
            <a:ext cx="219456" cy="219456"/>
          </a:xfrm>
          <a:prstGeom prst="ellipse">
            <a:avLst/>
          </a:prstGeom>
          <a:solidFill>
            <a:srgbClr val="FEF3C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2414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" y="23591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preflight OPTIONS requests between Spring Boot (8080) and Angular (4200) required careful header setup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8912" y="2926080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9" name="Shape 16"/>
          <p:cNvSpPr/>
          <p:nvPr/>
        </p:nvSpPr>
        <p:spPr>
          <a:xfrm>
            <a:off x="438912" y="3035808"/>
            <a:ext cx="219456" cy="219456"/>
          </a:xfrm>
          <a:prstGeom prst="ellipse">
            <a:avLst/>
          </a:prstGeom>
          <a:solidFill>
            <a:srgbClr val="FEF3C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" y="29809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Job Filters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" y="32369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JPA Specifications for 7+ optional query parameters with proper AND/OR logic was non-trivial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912" y="3547872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38912" y="3657600"/>
            <a:ext cx="219456" cy="219456"/>
          </a:xfrm>
          <a:prstGeom prst="ellipse">
            <a:avLst/>
          </a:prstGeom>
          <a:solidFill>
            <a:srgbClr val="FEF3C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3657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9808" y="3602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Validation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9808" y="38587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2MB limit and PDF/DOCX-only constraint on both client and server required layered validation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38912" y="4169664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9" name="Shape 26"/>
          <p:cNvSpPr/>
          <p:nvPr/>
        </p:nvSpPr>
        <p:spPr>
          <a:xfrm>
            <a:off x="438912" y="4279392"/>
            <a:ext cx="219456" cy="219456"/>
          </a:xfrm>
          <a:prstGeom prst="ellipse">
            <a:avLst/>
          </a:prstGeom>
          <a:solidFill>
            <a:srgbClr val="FEF3C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9808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Standalone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9808" y="44805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to Angular 17 standalone components changed module imports and guard registration patterns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45152" y="1078992"/>
            <a:ext cx="4206240" cy="3822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D1B3E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45152" y="1078992"/>
            <a:ext cx="4206240" cy="502920"/>
          </a:xfrm>
          <a:prstGeom prst="rect">
            <a:avLst/>
          </a:prstGeom>
          <a:solidFill>
            <a:srgbClr val="1E3D80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52144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93792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792224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02352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Architecture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102352" y="199339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in-depth understanding of filter chains, authentication providers, and JWT lifecycle management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773168" y="2304288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414016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102352" y="23591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10235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design consistent, versioned REST APIs with proper HTTP methods, status codes, and DTOs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773168" y="2926080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035808"/>
            <a:ext cx="219456" cy="21945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02352" y="29809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Reactive Programming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102352" y="32369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RxJS Observables, BehaviorSubjects, and HttpInterceptors for clean async data flows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4773168" y="3547872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657600"/>
            <a:ext cx="219456" cy="219456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102352" y="3602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5102352" y="38587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multi-role authorization at API and UI levels using guards and Spring Security annotations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4773168" y="4169664"/>
            <a:ext cx="3931920" cy="9144"/>
          </a:xfrm>
          <a:prstGeom prst="rect">
            <a:avLst/>
          </a:prstGeom>
          <a:solidFill>
            <a:srgbClr val="EEF2F8"/>
          </a:solidFill>
          <a:ln/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9392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102352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5102352" y="44805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end-to-end data flow from Angular forms → REST API → JPA entities → MySQL database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F286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F286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00" cy="1600200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22960"/>
            <a:ext cx="64008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96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RevHire successfully delivers a feature-complete, production-grade job portal that mirrors the core functionality of Naukri.com. The application demonstrates mastery of full-stack development with secure role-based access, real-time features, and a responsive Angular UI — all backed by a robust Spring Boot REST API.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1280160" cy="777240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51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37360" y="2606040"/>
            <a:ext cx="1280160" cy="777240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651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2606040"/>
            <a:ext cx="1280160" cy="777240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651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1280160" cy="777240"/>
          </a:xfrm>
          <a:prstGeom prst="rect">
            <a:avLst/>
          </a:prstGeom>
          <a:solidFill>
            <a:srgbClr val="182F6E"/>
          </a:solidFill>
          <a:ln w="6350">
            <a:solidFill>
              <a:srgbClr val="182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651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5486400" cy="1353312"/>
          </a:xfrm>
          <a:prstGeom prst="rect">
            <a:avLst/>
          </a:prstGeom>
          <a:solidFill>
            <a:srgbClr val="0D1B3E"/>
          </a:solidFill>
          <a:ln w="8890">
            <a:solidFill>
              <a:srgbClr val="182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" y="3995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via JavaMailSender (SMTP)</a:t>
            </a:r>
            <a:endParaRPr lang="en-US" sz="9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023360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520440" y="3995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with AI skill extraction</a:t>
            </a:r>
            <a:endParaRPr lang="en-US" sz="9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0740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" y="4379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rating &amp; review system</a:t>
            </a:r>
            <a:endParaRPr lang="en-US" sz="9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407408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520440" y="4379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 with push notifications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989320" y="822960"/>
            <a:ext cx="2834640" cy="40782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234440"/>
            <a:ext cx="1463040" cy="10972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035040" y="2514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36" name="Text 29"/>
          <p:cNvSpPr/>
          <p:nvPr/>
        </p:nvSpPr>
        <p:spPr>
          <a:xfrm>
            <a:off x="6035040" y="31272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0D1B3E"/>
              </a:lnSpc>
              <a:buNone/>
            </a:pPr>
            <a:r>
              <a:rPr lang="en-US" sz="11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RevHire — Connecting</a:t>
            </a:r>
            <a:endParaRPr lang="en-US" sz="1100" dirty="0"/>
          </a:p>
          <a:p>
            <a:pPr marL="0" indent="0" algn="ctr">
              <a:lnSpc>
                <a:spcPct val="0D1B3E"/>
              </a:lnSpc>
              <a:buNone/>
            </a:pPr>
            <a:r>
              <a:rPr lang="en-US" sz="11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with Opportunity</a:t>
            </a:r>
            <a:endParaRPr lang="en-US" sz="11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97764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035040" y="4462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RevHire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12192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1250</Words>
  <Application>Microsoft Office PowerPoint</Application>
  <PresentationFormat>On-screen Show (16:9)</PresentationFormat>
  <Paragraphs>254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RevHire — Job Portal Application</dc:title>
  <dc:subject>PptxGenJS Presentation</dc:subject>
  <dc:creator>RevHire Team</dc:creator>
  <cp:lastModifiedBy>Ranjeet Dethe</cp:lastModifiedBy>
  <cp:revision>4</cp:revision>
  <dcterms:created xsi:type="dcterms:W3CDTF">2026-02-24T06:45:39Z</dcterms:created>
  <dcterms:modified xsi:type="dcterms:W3CDTF">2026-02-25T16:48:59Z</dcterms:modified>
</cp:coreProperties>
</file>